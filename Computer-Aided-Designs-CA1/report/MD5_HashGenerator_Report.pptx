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158F050-0265-4701-909F-4B32C827AE96}" type="datetimeFigureOut">
              <a:rPr lang="en-US" smtClean="0"/>
              <a:t>10/9/2025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44420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58F050-0265-4701-909F-4B32C827AE96}"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03023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58F050-0265-4701-909F-4B32C827AE96}"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2718229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499452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158F050-0265-4701-909F-4B32C827AE96}"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125413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58F050-0265-4701-909F-4B32C827AE96}"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63147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58F050-0265-4701-909F-4B32C827AE96}" type="datetimeFigureOut">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861577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3136055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3241652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08263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2273280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07322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58F050-0265-4701-909F-4B32C827AE96}"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21533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158F050-0265-4701-909F-4B32C827AE96}"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3710660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158F050-0265-4701-909F-4B32C827AE96}"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8157192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58F050-0265-4701-909F-4B32C827AE96}"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1264045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58F050-0265-4701-909F-4B32C827AE96}"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5241D-5D78-404A-A785-B1F74E36B8B4}" type="slidenum">
              <a:rPr lang="en-US" smtClean="0"/>
              <a:t>‹#›</a:t>
            </a:fld>
            <a:endParaRPr lang="en-US"/>
          </a:p>
        </p:txBody>
      </p:sp>
    </p:spTree>
    <p:extLst>
      <p:ext uri="{BB962C8B-B14F-4D97-AF65-F5344CB8AC3E}">
        <p14:creationId xmlns:p14="http://schemas.microsoft.com/office/powerpoint/2010/main" val="3487625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158F050-0265-4701-909F-4B32C827AE96}" type="datetimeFigureOut">
              <a:rPr lang="en-US" smtClean="0"/>
              <a:t>10/9/2025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6D5241D-5D78-404A-A785-B1F74E36B8B4}" type="slidenum">
              <a:rPr lang="en-US" smtClean="0"/>
              <a:t>‹#›</a:t>
            </a:fld>
            <a:endParaRPr lang="en-US"/>
          </a:p>
        </p:txBody>
      </p:sp>
    </p:spTree>
    <p:extLst>
      <p:ext uri="{BB962C8B-B14F-4D97-AF65-F5344CB8AC3E}">
        <p14:creationId xmlns:p14="http://schemas.microsoft.com/office/powerpoint/2010/main" val="45867769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11.xml"/><Relationship Id="rId5" Type="http://schemas.openxmlformats.org/officeDocument/2006/relationships/hyperlink" Target="https://github.com/Parsa-Saeednia" TargetMode="External"/><Relationship Id="rId4" Type="http://schemas.openxmlformats.org/officeDocument/2006/relationships/hyperlink" Target="https://github.com/MiladMazaheri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51CEE-F1A5-B33F-F202-7C59F5DFA5DB}"/>
              </a:ext>
            </a:extLst>
          </p:cNvPr>
          <p:cNvSpPr>
            <a:spLocks noGrp="1"/>
          </p:cNvSpPr>
          <p:nvPr>
            <p:ph type="ctrTitle"/>
          </p:nvPr>
        </p:nvSpPr>
        <p:spPr/>
        <p:txBody>
          <a:bodyPr>
            <a:normAutofit/>
          </a:bodyPr>
          <a:lstStyle/>
          <a:p>
            <a:r>
              <a:rPr lang="en-US" b="1" dirty="0">
                <a:latin typeface="Tw Cen MT Condensed Extra Bold" panose="020B0803020202020204" pitchFamily="34" charset="0"/>
              </a:rPr>
              <a:t>MD5 Hash Generator - Digital Design Implementation Report</a:t>
            </a:r>
            <a:br>
              <a:rPr lang="en-US" b="1" dirty="0">
                <a:latin typeface="Tw Cen MT Condensed Extra Bold" panose="020B0803020202020204" pitchFamily="34" charset="0"/>
              </a:rPr>
            </a:br>
            <a:endParaRPr lang="en-US" dirty="0">
              <a:latin typeface="Tw Cen MT Condensed Extra Bold" panose="020B0803020202020204" pitchFamily="34" charset="0"/>
            </a:endParaRPr>
          </a:p>
        </p:txBody>
      </p:sp>
      <p:sp>
        <p:nvSpPr>
          <p:cNvPr id="3" name="Subtitle 2">
            <a:extLst>
              <a:ext uri="{FF2B5EF4-FFF2-40B4-BE49-F238E27FC236}">
                <a16:creationId xmlns:a16="http://schemas.microsoft.com/office/drawing/2014/main" id="{344DE45F-78D1-1114-C235-B56F35BE7507}"/>
              </a:ext>
            </a:extLst>
          </p:cNvPr>
          <p:cNvSpPr>
            <a:spLocks noGrp="1"/>
          </p:cNvSpPr>
          <p:nvPr>
            <p:ph type="subTitle" idx="1"/>
          </p:nvPr>
        </p:nvSpPr>
        <p:spPr/>
        <p:txBody>
          <a:bodyPr>
            <a:normAutofit fontScale="70000" lnSpcReduction="20000"/>
          </a:bodyPr>
          <a:lstStyle/>
          <a:p>
            <a:r>
              <a:rPr lang="en-US" b="1" dirty="0"/>
              <a:t>Executive Summary</a:t>
            </a:r>
          </a:p>
          <a:p>
            <a:r>
              <a:rPr lang="en-US" dirty="0"/>
              <a:t>This report documents the implementation of a complete MD5 hash generator system designed using Verilog HDL. The system features a modular architecture with separate controller and datapath components, implementing the MD5 cryptographic hash algorithm with 128-bit output. The design has been verified through simulation testing against known test vectors.</a:t>
            </a:r>
          </a:p>
          <a:p>
            <a:endParaRPr lang="en-US" dirty="0"/>
          </a:p>
        </p:txBody>
      </p:sp>
    </p:spTree>
    <p:extLst>
      <p:ext uri="{BB962C8B-B14F-4D97-AF65-F5344CB8AC3E}">
        <p14:creationId xmlns:p14="http://schemas.microsoft.com/office/powerpoint/2010/main" val="3291889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41A6-3B90-1C43-FA0C-AE1991AE6715}"/>
              </a:ext>
            </a:extLst>
          </p:cNvPr>
          <p:cNvSpPr>
            <a:spLocks noGrp="1"/>
          </p:cNvSpPr>
          <p:nvPr>
            <p:ph type="title"/>
          </p:nvPr>
        </p:nvSpPr>
        <p:spPr/>
        <p:txBody>
          <a:bodyPr/>
          <a:lstStyle/>
          <a:p>
            <a:r>
              <a:rPr lang="en-US" b="1" dirty="0"/>
              <a:t>1. System Architecture</a:t>
            </a:r>
            <a:br>
              <a:rPr lang="en-US" b="1" dirty="0"/>
            </a:br>
            <a:endParaRPr lang="en-US" dirty="0"/>
          </a:p>
        </p:txBody>
      </p:sp>
      <p:pic>
        <p:nvPicPr>
          <p:cNvPr id="5" name="Content Placeholder 4">
            <a:extLst>
              <a:ext uri="{FF2B5EF4-FFF2-40B4-BE49-F238E27FC236}">
                <a16:creationId xmlns:a16="http://schemas.microsoft.com/office/drawing/2014/main" id="{40CCBBEE-1D6A-7D94-6A77-AEEC39D5BA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8897" y="1647810"/>
            <a:ext cx="9758514" cy="4900474"/>
          </a:xfrm>
        </p:spPr>
      </p:pic>
    </p:spTree>
    <p:extLst>
      <p:ext uri="{BB962C8B-B14F-4D97-AF65-F5344CB8AC3E}">
        <p14:creationId xmlns:p14="http://schemas.microsoft.com/office/powerpoint/2010/main" val="4292942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760D-7D93-0E1E-23FC-C54A29FD726E}"/>
              </a:ext>
            </a:extLst>
          </p:cNvPr>
          <p:cNvSpPr>
            <a:spLocks noGrp="1"/>
          </p:cNvSpPr>
          <p:nvPr>
            <p:ph type="title"/>
          </p:nvPr>
        </p:nvSpPr>
        <p:spPr/>
        <p:txBody>
          <a:bodyPr/>
          <a:lstStyle/>
          <a:p>
            <a:r>
              <a:rPr lang="en-US" sz="2800" b="1" dirty="0"/>
              <a:t>1.1 Top-Level Module: HashGenerator</a:t>
            </a:r>
            <a:br>
              <a:rPr lang="en-US" sz="2800" b="1" dirty="0"/>
            </a:br>
            <a:endParaRPr lang="en-US" dirty="0"/>
          </a:p>
        </p:txBody>
      </p:sp>
      <p:sp>
        <p:nvSpPr>
          <p:cNvPr id="3" name="Content Placeholder 2">
            <a:extLst>
              <a:ext uri="{FF2B5EF4-FFF2-40B4-BE49-F238E27FC236}">
                <a16:creationId xmlns:a16="http://schemas.microsoft.com/office/drawing/2014/main" id="{8C38E7C2-A541-A285-56C6-825063E88EE2}"/>
              </a:ext>
            </a:extLst>
          </p:cNvPr>
          <p:cNvSpPr>
            <a:spLocks noGrp="1"/>
          </p:cNvSpPr>
          <p:nvPr>
            <p:ph idx="1"/>
          </p:nvPr>
        </p:nvSpPr>
        <p:spPr>
          <a:xfrm>
            <a:off x="1415845" y="1553497"/>
            <a:ext cx="9631566" cy="4237704"/>
          </a:xfrm>
        </p:spPr>
        <p:txBody>
          <a:bodyPr>
            <a:normAutofit/>
          </a:bodyPr>
          <a:lstStyle/>
          <a:p>
            <a:r>
              <a:rPr lang="en-US" b="1" dirty="0"/>
              <a:t>Parameters</a:t>
            </a:r>
            <a:r>
              <a:rPr lang="en-US" dirty="0"/>
              <a:t>: Configurable input size (default: 128-bit)</a:t>
            </a:r>
          </a:p>
          <a:p>
            <a:r>
              <a:rPr lang="en-US" b="1" dirty="0"/>
              <a:t>Inputs</a:t>
            </a:r>
            <a:r>
              <a:rPr lang="en-US" dirty="0"/>
              <a:t>: Clock, reset, start signal, 128-bit input data, initial hash values (A, B, C, D)</a:t>
            </a:r>
          </a:p>
          <a:p>
            <a:r>
              <a:rPr lang="en-US" b="1" dirty="0"/>
              <a:t>Outputs</a:t>
            </a:r>
            <a:r>
              <a:rPr lang="en-US" dirty="0"/>
              <a:t>: 128-bit hash output, completion signal</a:t>
            </a:r>
          </a:p>
          <a:p>
            <a:r>
              <a:rPr lang="en-US" b="1" dirty="0"/>
              <a:t>Submodules</a:t>
            </a:r>
            <a:r>
              <a:rPr lang="en-US" dirty="0"/>
              <a:t>:</a:t>
            </a:r>
          </a:p>
          <a:p>
            <a:pPr lvl="1"/>
            <a:r>
              <a:rPr lang="en-US" dirty="0"/>
              <a:t>HashGeneratorController (Finite State Machine)</a:t>
            </a:r>
          </a:p>
          <a:p>
            <a:pPr lvl="1"/>
            <a:r>
              <a:rPr lang="en-US" dirty="0"/>
              <a:t>HashGeneratorDatapath (Computational pipeline)</a:t>
            </a:r>
          </a:p>
          <a:p>
            <a:pPr lvl="1"/>
            <a:r>
              <a:rPr lang="en-US" dirty="0"/>
              <a:t>RandomGenerator (Random number generation for message scheduling)</a:t>
            </a:r>
          </a:p>
        </p:txBody>
      </p:sp>
    </p:spTree>
    <p:extLst>
      <p:ext uri="{BB962C8B-B14F-4D97-AF65-F5344CB8AC3E}">
        <p14:creationId xmlns:p14="http://schemas.microsoft.com/office/powerpoint/2010/main" val="770027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54ABC-AD76-2185-06E8-071AA0FB7359}"/>
              </a:ext>
            </a:extLst>
          </p:cNvPr>
          <p:cNvSpPr>
            <a:spLocks noGrp="1"/>
          </p:cNvSpPr>
          <p:nvPr>
            <p:ph type="title"/>
          </p:nvPr>
        </p:nvSpPr>
        <p:spPr/>
        <p:txBody>
          <a:bodyPr>
            <a:normAutofit/>
          </a:bodyPr>
          <a:lstStyle/>
          <a:p>
            <a:r>
              <a:rPr lang="en-US" sz="4000" b="1" dirty="0"/>
              <a:t>Module Specifications</a:t>
            </a:r>
            <a:br>
              <a:rPr lang="en-US" sz="4000" b="1" dirty="0"/>
            </a:br>
            <a:endParaRPr lang="en-US" sz="4000" dirty="0"/>
          </a:p>
        </p:txBody>
      </p:sp>
    </p:spTree>
    <p:extLst>
      <p:ext uri="{BB962C8B-B14F-4D97-AF65-F5344CB8AC3E}">
        <p14:creationId xmlns:p14="http://schemas.microsoft.com/office/powerpoint/2010/main" val="1663533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A134-1642-4C96-C57E-17894FD6863B}"/>
              </a:ext>
            </a:extLst>
          </p:cNvPr>
          <p:cNvSpPr>
            <a:spLocks noGrp="1"/>
          </p:cNvSpPr>
          <p:nvPr>
            <p:ph type="title"/>
          </p:nvPr>
        </p:nvSpPr>
        <p:spPr/>
        <p:txBody>
          <a:bodyPr>
            <a:normAutofit/>
          </a:bodyPr>
          <a:lstStyle/>
          <a:p>
            <a:r>
              <a:rPr lang="en-US" b="1" dirty="0"/>
              <a:t>2.1 HashGeneratorController</a:t>
            </a:r>
            <a:br>
              <a:rPr lang="en-US" b="1" dirty="0"/>
            </a:br>
            <a:endParaRPr lang="en-US" dirty="0"/>
          </a:p>
        </p:txBody>
      </p:sp>
      <p:pic>
        <p:nvPicPr>
          <p:cNvPr id="6" name="Content Placeholder 5">
            <a:extLst>
              <a:ext uri="{FF2B5EF4-FFF2-40B4-BE49-F238E27FC236}">
                <a16:creationId xmlns:a16="http://schemas.microsoft.com/office/drawing/2014/main" id="{6C4C3B9E-B1F7-ED28-DEDF-78C7CCA726B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34935" y="2249486"/>
            <a:ext cx="7088188" cy="3541714"/>
          </a:xfrm>
        </p:spPr>
      </p:pic>
      <p:pic>
        <p:nvPicPr>
          <p:cNvPr id="8" name="Content Placeholder 7">
            <a:extLst>
              <a:ext uri="{FF2B5EF4-FFF2-40B4-BE49-F238E27FC236}">
                <a16:creationId xmlns:a16="http://schemas.microsoft.com/office/drawing/2014/main" id="{93F7C3CE-F2B6-8057-2237-CF8608C2897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149602" y="2249488"/>
            <a:ext cx="2709881" cy="3541712"/>
          </a:xfrm>
        </p:spPr>
      </p:pic>
    </p:spTree>
    <p:extLst>
      <p:ext uri="{BB962C8B-B14F-4D97-AF65-F5344CB8AC3E}">
        <p14:creationId xmlns:p14="http://schemas.microsoft.com/office/powerpoint/2010/main" val="2812015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A23D755-1A0D-53C6-BE50-62F6EFB942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966451"/>
            <a:ext cx="5328592" cy="3001229"/>
          </a:xfrm>
        </p:spPr>
      </p:pic>
      <p:sp>
        <p:nvSpPr>
          <p:cNvPr id="4" name="Text Placeholder 3">
            <a:extLst>
              <a:ext uri="{FF2B5EF4-FFF2-40B4-BE49-F238E27FC236}">
                <a16:creationId xmlns:a16="http://schemas.microsoft.com/office/drawing/2014/main" id="{4513CB78-2E71-04B0-AD9E-FD4FBD05F12A}"/>
              </a:ext>
            </a:extLst>
          </p:cNvPr>
          <p:cNvSpPr>
            <a:spLocks noGrp="1"/>
          </p:cNvSpPr>
          <p:nvPr>
            <p:ph type="body" sz="half" idx="2"/>
          </p:nvPr>
        </p:nvSpPr>
        <p:spPr>
          <a:xfrm>
            <a:off x="1376516" y="197838"/>
            <a:ext cx="4473677" cy="6538453"/>
          </a:xfrm>
        </p:spPr>
        <p:txBody>
          <a:bodyPr>
            <a:normAutofit fontScale="92500" lnSpcReduction="20000"/>
          </a:bodyPr>
          <a:lstStyle/>
          <a:p>
            <a:r>
              <a:rPr lang="en-US" b="1" dirty="0"/>
              <a:t>Function</a:t>
            </a:r>
            <a:r>
              <a:rPr lang="en-US" dirty="0"/>
              <a:t>: Implements the main control FSM for MD5 computation</a:t>
            </a:r>
          </a:p>
          <a:p>
            <a:r>
              <a:rPr lang="en-US" b="1" dirty="0"/>
              <a:t>State Transitions</a:t>
            </a:r>
            <a:r>
              <a:rPr lang="en-US" dirty="0"/>
              <a:t>:</a:t>
            </a:r>
          </a:p>
          <a:p>
            <a:pPr marL="285750" indent="-285750">
              <a:buFont typeface="Arial" panose="020B0604020202020204" pitchFamily="34" charset="0"/>
              <a:buChar char="•"/>
            </a:pPr>
            <a:r>
              <a:rPr lang="en-US" b="1" dirty="0"/>
              <a:t>S0</a:t>
            </a:r>
            <a:r>
              <a:rPr lang="en-US" dirty="0"/>
              <a:t>: Idle state, waits for start signal</a:t>
            </a:r>
          </a:p>
          <a:p>
            <a:pPr marL="285750" indent="-285750">
              <a:buFont typeface="Arial" panose="020B0604020202020204" pitchFamily="34" charset="0"/>
              <a:buChar char="•"/>
            </a:pPr>
            <a:r>
              <a:rPr lang="en-US" b="1" dirty="0"/>
              <a:t>S1</a:t>
            </a:r>
            <a:r>
              <a:rPr lang="en-US" dirty="0"/>
              <a:t>: Start acknowledgment</a:t>
            </a:r>
          </a:p>
          <a:p>
            <a:pPr marL="285750" indent="-285750">
              <a:buFont typeface="Arial" panose="020B0604020202020204" pitchFamily="34" charset="0"/>
              <a:buChar char="•"/>
            </a:pPr>
            <a:r>
              <a:rPr lang="en-US" b="1" dirty="0"/>
              <a:t>S2</a:t>
            </a:r>
            <a:r>
              <a:rPr lang="en-US" dirty="0"/>
              <a:t>: Enable message registers, initialize counter</a:t>
            </a:r>
          </a:p>
          <a:p>
            <a:pPr marL="285750" indent="-285750">
              <a:buFont typeface="Arial" panose="020B0604020202020204" pitchFamily="34" charset="0"/>
              <a:buChar char="•"/>
            </a:pPr>
            <a:r>
              <a:rPr lang="en-US" b="1" dirty="0"/>
              <a:t>S3</a:t>
            </a:r>
            <a:r>
              <a:rPr lang="en-US" dirty="0"/>
              <a:t>: Initialize hash registers</a:t>
            </a:r>
          </a:p>
          <a:p>
            <a:pPr marL="285750" indent="-285750">
              <a:buFont typeface="Arial" panose="020B0604020202020204" pitchFamily="34" charset="0"/>
              <a:buChar char="•"/>
            </a:pPr>
            <a:r>
              <a:rPr lang="en-US" b="1" dirty="0"/>
              <a:t>S4</a:t>
            </a:r>
            <a:r>
              <a:rPr lang="en-US" dirty="0"/>
              <a:t>: Start random number generation</a:t>
            </a:r>
          </a:p>
          <a:p>
            <a:pPr marL="285750" indent="-285750">
              <a:buFont typeface="Arial" panose="020B0604020202020204" pitchFamily="34" charset="0"/>
              <a:buChar char="•"/>
            </a:pPr>
            <a:r>
              <a:rPr lang="en-US" b="1" dirty="0"/>
              <a:t>S5</a:t>
            </a:r>
            <a:r>
              <a:rPr lang="en-US" dirty="0"/>
              <a:t>: Wait for random generation completion</a:t>
            </a:r>
          </a:p>
          <a:p>
            <a:pPr marL="285750" indent="-285750">
              <a:buFont typeface="Arial" panose="020B0604020202020204" pitchFamily="34" charset="0"/>
              <a:buChar char="•"/>
            </a:pPr>
            <a:r>
              <a:rPr lang="en-US" b="1" dirty="0"/>
              <a:t>S6</a:t>
            </a:r>
            <a:r>
              <a:rPr lang="en-US" dirty="0"/>
              <a:t>: Initialize F function computation</a:t>
            </a:r>
          </a:p>
          <a:p>
            <a:pPr marL="285750" indent="-285750">
              <a:buFont typeface="Arial" panose="020B0604020202020204" pitchFamily="34" charset="0"/>
              <a:buChar char="•"/>
            </a:pPr>
            <a:r>
              <a:rPr lang="en-US" b="1" dirty="0"/>
              <a:t>S7</a:t>
            </a:r>
            <a:r>
              <a:rPr lang="en-US" dirty="0"/>
              <a:t>: Process F function with counter</a:t>
            </a:r>
          </a:p>
          <a:p>
            <a:pPr marL="285750" indent="-285750">
              <a:buFont typeface="Arial" panose="020B0604020202020204" pitchFamily="34" charset="0"/>
              <a:buChar char="•"/>
            </a:pPr>
            <a:r>
              <a:rPr lang="en-US" b="1" dirty="0"/>
              <a:t>S8</a:t>
            </a:r>
            <a:r>
              <a:rPr lang="en-US" dirty="0"/>
              <a:t>: Update hash values, check loop completion</a:t>
            </a:r>
          </a:p>
          <a:p>
            <a:pPr marL="285750" indent="-285750">
              <a:buFont typeface="Arial" panose="020B0604020202020204" pitchFamily="34" charset="0"/>
              <a:buChar char="•"/>
            </a:pPr>
            <a:r>
              <a:rPr lang="en-US" b="1" dirty="0"/>
              <a:t>S9</a:t>
            </a:r>
            <a:r>
              <a:rPr lang="en-US" dirty="0"/>
              <a:t>: Output final hash, return to idle</a:t>
            </a:r>
          </a:p>
          <a:p>
            <a:r>
              <a:rPr lang="en-US" b="1" dirty="0"/>
              <a:t>Control Signals</a:t>
            </a:r>
            <a:r>
              <a:rPr lang="en-US" dirty="0"/>
              <a:t>:</a:t>
            </a:r>
          </a:p>
          <a:p>
            <a:pPr lvl="1"/>
            <a:r>
              <a:rPr lang="en-US" dirty="0"/>
              <a:t>enM: Enable message registers</a:t>
            </a:r>
          </a:p>
          <a:p>
            <a:pPr lvl="1"/>
            <a:r>
              <a:rPr lang="en-US" dirty="0"/>
              <a:t>initCnt6: Initialize main loop counter (64 iterations)</a:t>
            </a:r>
          </a:p>
          <a:p>
            <a:pPr lvl="1"/>
            <a:r>
              <a:rPr lang="en-US" dirty="0" err="1"/>
              <a:t>hashEn</a:t>
            </a:r>
            <a:r>
              <a:rPr lang="en-US" dirty="0"/>
              <a:t>: Enable hash register updates</a:t>
            </a:r>
          </a:p>
          <a:p>
            <a:pPr lvl="1"/>
            <a:r>
              <a:rPr lang="en-US" dirty="0" err="1"/>
              <a:t>startRnd</a:t>
            </a:r>
            <a:r>
              <a:rPr lang="en-US" dirty="0"/>
              <a:t>: Start random number generation</a:t>
            </a:r>
          </a:p>
          <a:p>
            <a:pPr lvl="1"/>
            <a:r>
              <a:rPr lang="en-US" dirty="0" err="1"/>
              <a:t>romRead</a:t>
            </a:r>
            <a:r>
              <a:rPr lang="en-US" dirty="0"/>
              <a:t>: Enable ROM read operations</a:t>
            </a:r>
          </a:p>
          <a:p>
            <a:pPr lvl="1"/>
            <a:r>
              <a:rPr lang="en-US" dirty="0"/>
              <a:t>And …</a:t>
            </a:r>
          </a:p>
        </p:txBody>
      </p:sp>
    </p:spTree>
    <p:extLst>
      <p:ext uri="{BB962C8B-B14F-4D97-AF65-F5344CB8AC3E}">
        <p14:creationId xmlns:p14="http://schemas.microsoft.com/office/powerpoint/2010/main" val="1209394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55CB7-C116-6DFB-6903-8F5D0D77FDD8}"/>
              </a:ext>
            </a:extLst>
          </p:cNvPr>
          <p:cNvSpPr>
            <a:spLocks noGrp="1"/>
          </p:cNvSpPr>
          <p:nvPr>
            <p:ph type="title"/>
          </p:nvPr>
        </p:nvSpPr>
        <p:spPr/>
        <p:txBody>
          <a:bodyPr/>
          <a:lstStyle/>
          <a:p>
            <a:r>
              <a:rPr lang="en-US" b="1" dirty="0"/>
              <a:t>2.2 HashGeneratorDatapath</a:t>
            </a:r>
            <a:br>
              <a:rPr lang="en-US" b="1" dirty="0"/>
            </a:br>
            <a:endParaRPr lang="en-US" dirty="0"/>
          </a:p>
        </p:txBody>
      </p:sp>
      <p:pic>
        <p:nvPicPr>
          <p:cNvPr id="5" name="Content Placeholder 4">
            <a:extLst>
              <a:ext uri="{FF2B5EF4-FFF2-40B4-BE49-F238E27FC236}">
                <a16:creationId xmlns:a16="http://schemas.microsoft.com/office/drawing/2014/main" id="{DF78937B-B4B3-34CA-76EC-C5E098B121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413" y="1818968"/>
            <a:ext cx="10185348" cy="3854244"/>
          </a:xfrm>
        </p:spPr>
      </p:pic>
    </p:spTree>
    <p:extLst>
      <p:ext uri="{BB962C8B-B14F-4D97-AF65-F5344CB8AC3E}">
        <p14:creationId xmlns:p14="http://schemas.microsoft.com/office/powerpoint/2010/main" val="36170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BA1EB8-19BC-ACE1-DB84-8C4F38CBA475}"/>
              </a:ext>
            </a:extLst>
          </p:cNvPr>
          <p:cNvSpPr>
            <a:spLocks noGrp="1"/>
          </p:cNvSpPr>
          <p:nvPr>
            <p:ph type="body" sz="half" idx="2"/>
          </p:nvPr>
        </p:nvSpPr>
        <p:spPr>
          <a:xfrm>
            <a:off x="1278193" y="206477"/>
            <a:ext cx="7030066" cy="6445045"/>
          </a:xfrm>
        </p:spPr>
        <p:txBody>
          <a:bodyPr>
            <a:normAutofit/>
          </a:bodyPr>
          <a:lstStyle/>
          <a:p>
            <a:r>
              <a:rPr lang="en-US" b="1" dirty="0"/>
              <a:t>Function</a:t>
            </a:r>
            <a:r>
              <a:rPr lang="en-US" dirty="0"/>
              <a:t>: Implements the computational pipeline for MD5 algorithm</a:t>
            </a:r>
          </a:p>
          <a:p>
            <a:r>
              <a:rPr lang="en-US" b="1" dirty="0"/>
              <a:t>Key Components</a:t>
            </a:r>
            <a:r>
              <a:rPr lang="en-US" dirty="0"/>
              <a:t>:</a:t>
            </a:r>
          </a:p>
          <a:p>
            <a:r>
              <a:rPr lang="en-US" b="1" dirty="0"/>
              <a:t>Message Registers (M00-M11)</a:t>
            </a:r>
            <a:r>
              <a:rPr lang="en-US" dirty="0"/>
              <a:t>:</a:t>
            </a:r>
          </a:p>
          <a:p>
            <a:pPr lvl="1"/>
            <a:r>
              <a:rPr lang="en-US" sz="1800" dirty="0"/>
              <a:t>Four 32-bit registers storing input message blocks</a:t>
            </a:r>
          </a:p>
          <a:p>
            <a:pPr lvl="1"/>
            <a:r>
              <a:rPr lang="en-US" sz="1800" dirty="0"/>
              <a:t>Enabled by enM control signal</a:t>
            </a:r>
          </a:p>
          <a:p>
            <a:r>
              <a:rPr lang="en-US" b="1" dirty="0"/>
              <a:t>Hash Registers (A, B, C, D)</a:t>
            </a:r>
            <a:r>
              <a:rPr lang="en-US" dirty="0"/>
              <a:t>:</a:t>
            </a:r>
          </a:p>
          <a:p>
            <a:pPr lvl="1"/>
            <a:r>
              <a:rPr lang="en-US" sz="1800" dirty="0"/>
              <a:t>Four 32-bit registers storing intermediate hash values</a:t>
            </a:r>
          </a:p>
          <a:p>
            <a:pPr lvl="1"/>
            <a:r>
              <a:rPr lang="en-US" sz="1800" dirty="0"/>
              <a:t>Support initialization and iterative updates</a:t>
            </a:r>
          </a:p>
          <a:p>
            <a:r>
              <a:rPr lang="en-US" b="1" dirty="0"/>
              <a:t>F Function Logic</a:t>
            </a:r>
            <a:r>
              <a:rPr lang="en-US" dirty="0"/>
              <a:t>:</a:t>
            </a:r>
          </a:p>
          <a:p>
            <a:pPr lvl="1"/>
            <a:r>
              <a:rPr lang="en-US" sz="1800" dirty="0"/>
              <a:t>Four logical functions selected based on round number:</a:t>
            </a:r>
          </a:p>
          <a:p>
            <a:pPr lvl="2"/>
            <a:r>
              <a:rPr lang="en-US" sz="1800" dirty="0"/>
              <a:t>Round 1-16: F(B,C,D) = (B &amp; C) | (~B &amp; D)</a:t>
            </a:r>
          </a:p>
          <a:p>
            <a:pPr lvl="2"/>
            <a:r>
              <a:rPr lang="en-US" sz="1800" dirty="0"/>
              <a:t>Round 17-32: G(B,C,D) = (D &amp; B) | (~D &amp; C)</a:t>
            </a:r>
          </a:p>
          <a:p>
            <a:pPr lvl="2"/>
            <a:r>
              <a:rPr lang="en-US" sz="1800" dirty="0"/>
              <a:t>Round 33-48: H(B,C,D) = B ^ C ^ D</a:t>
            </a:r>
          </a:p>
          <a:p>
            <a:pPr lvl="2"/>
            <a:r>
              <a:rPr lang="en-US" sz="1800" dirty="0"/>
              <a:t>Round 49-64: I(B,C,D) = C ^ (B | ~D)</a:t>
            </a:r>
          </a:p>
        </p:txBody>
      </p:sp>
      <p:sp>
        <p:nvSpPr>
          <p:cNvPr id="4" name="Text Placeholder 2">
            <a:extLst>
              <a:ext uri="{FF2B5EF4-FFF2-40B4-BE49-F238E27FC236}">
                <a16:creationId xmlns:a16="http://schemas.microsoft.com/office/drawing/2014/main" id="{3485C672-E17B-C88D-32AD-57E527970761}"/>
              </a:ext>
            </a:extLst>
          </p:cNvPr>
          <p:cNvSpPr txBox="1">
            <a:spLocks/>
          </p:cNvSpPr>
          <p:nvPr/>
        </p:nvSpPr>
        <p:spPr>
          <a:xfrm>
            <a:off x="7472516" y="1238865"/>
            <a:ext cx="4483510" cy="5196350"/>
          </a:xfrm>
          <a:prstGeom prst="rect">
            <a:avLst/>
          </a:prstGeom>
        </p:spPr>
        <p:txBody>
          <a:bodyPr vert="horz" lIns="91440" tIns="45720" rIns="91440" bIns="45720" rtlCol="0" anchor="ctr">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9pPr>
          </a:lstStyle>
          <a:p>
            <a:r>
              <a:rPr lang="en-US" b="1" dirty="0"/>
              <a:t>Rotation Unit</a:t>
            </a:r>
            <a:r>
              <a:rPr lang="en-US" dirty="0"/>
              <a:t>:</a:t>
            </a:r>
          </a:p>
          <a:p>
            <a:pPr lvl="1"/>
            <a:r>
              <a:rPr lang="en-US" sz="1800" dirty="0"/>
              <a:t>Implements variable left rotation based on MD5 specification</a:t>
            </a:r>
          </a:p>
          <a:p>
            <a:pPr lvl="1"/>
            <a:r>
              <a:rPr lang="en-US" sz="1800" dirty="0"/>
              <a:t>Pre-programmed rotation amounts for each round</a:t>
            </a:r>
          </a:p>
          <a:p>
            <a:r>
              <a:rPr lang="en-US" b="1" dirty="0"/>
              <a:t>Constants ROM</a:t>
            </a:r>
            <a:r>
              <a:rPr lang="en-US" dirty="0"/>
              <a:t>:</a:t>
            </a:r>
          </a:p>
          <a:p>
            <a:pPr lvl="1"/>
            <a:r>
              <a:rPr lang="en-US" sz="1800" dirty="0"/>
              <a:t>Stores 64 32-bit constants for MD5 computation</a:t>
            </a:r>
          </a:p>
          <a:p>
            <a:pPr lvl="1"/>
            <a:r>
              <a:rPr lang="en-US" sz="1800" dirty="0"/>
              <a:t>Addressable by main loop counter</a:t>
            </a:r>
          </a:p>
          <a:p>
            <a:endParaRPr lang="en-US" dirty="0"/>
          </a:p>
        </p:txBody>
      </p:sp>
    </p:spTree>
    <p:extLst>
      <p:ext uri="{BB962C8B-B14F-4D97-AF65-F5344CB8AC3E}">
        <p14:creationId xmlns:p14="http://schemas.microsoft.com/office/powerpoint/2010/main" val="1874342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6B408-9D90-4221-9BF2-E3F163D3B2DB}"/>
              </a:ext>
            </a:extLst>
          </p:cNvPr>
          <p:cNvSpPr>
            <a:spLocks noGrp="1"/>
          </p:cNvSpPr>
          <p:nvPr>
            <p:ph type="title"/>
          </p:nvPr>
        </p:nvSpPr>
        <p:spPr/>
        <p:txBody>
          <a:bodyPr/>
          <a:lstStyle/>
          <a:p>
            <a:r>
              <a:rPr lang="en-US" b="1" dirty="0"/>
              <a:t>2.3 RandomGenerator</a:t>
            </a:r>
            <a:endParaRPr lang="en-US" dirty="0"/>
          </a:p>
        </p:txBody>
      </p:sp>
      <p:sp>
        <p:nvSpPr>
          <p:cNvPr id="3" name="Text Placeholder 2">
            <a:extLst>
              <a:ext uri="{FF2B5EF4-FFF2-40B4-BE49-F238E27FC236}">
                <a16:creationId xmlns:a16="http://schemas.microsoft.com/office/drawing/2014/main" id="{76E0B861-DC11-16AA-8BA1-E11C5BABB0EE}"/>
              </a:ext>
            </a:extLst>
          </p:cNvPr>
          <p:cNvSpPr>
            <a:spLocks noGrp="1"/>
          </p:cNvSpPr>
          <p:nvPr>
            <p:ph type="body" idx="1"/>
          </p:nvPr>
        </p:nvSpPr>
        <p:spPr>
          <a:xfrm>
            <a:off x="1141410" y="2249485"/>
            <a:ext cx="4649783" cy="823912"/>
          </a:xfrm>
        </p:spPr>
        <p:txBody>
          <a:bodyPr/>
          <a:lstStyle/>
          <a:p>
            <a:pPr marL="342900" indent="-342900">
              <a:buFont typeface="Arial" panose="020B0604020202020204" pitchFamily="34" charset="0"/>
              <a:buChar char="•"/>
            </a:pPr>
            <a:r>
              <a:rPr lang="en-US" dirty="0"/>
              <a:t>datapath</a:t>
            </a:r>
          </a:p>
        </p:txBody>
      </p:sp>
      <p:pic>
        <p:nvPicPr>
          <p:cNvPr id="10" name="Content Placeholder 9">
            <a:extLst>
              <a:ext uri="{FF2B5EF4-FFF2-40B4-BE49-F238E27FC236}">
                <a16:creationId xmlns:a16="http://schemas.microsoft.com/office/drawing/2014/main" id="{FFE237D5-56B0-BBFA-148F-25A661C86B3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41413" y="3107319"/>
            <a:ext cx="4930956" cy="2649962"/>
          </a:xfrm>
        </p:spPr>
      </p:pic>
      <p:sp>
        <p:nvSpPr>
          <p:cNvPr id="5" name="Text Placeholder 4">
            <a:extLst>
              <a:ext uri="{FF2B5EF4-FFF2-40B4-BE49-F238E27FC236}">
                <a16:creationId xmlns:a16="http://schemas.microsoft.com/office/drawing/2014/main" id="{36AC3ED6-6416-879F-5137-CADF25D05E69}"/>
              </a:ext>
            </a:extLst>
          </p:cNvPr>
          <p:cNvSpPr>
            <a:spLocks noGrp="1"/>
          </p:cNvSpPr>
          <p:nvPr>
            <p:ph type="body" sz="quarter" idx="3"/>
          </p:nvPr>
        </p:nvSpPr>
        <p:spPr>
          <a:xfrm>
            <a:off x="6172200" y="2249485"/>
            <a:ext cx="4646602" cy="823912"/>
          </a:xfrm>
        </p:spPr>
        <p:txBody>
          <a:bodyPr/>
          <a:lstStyle/>
          <a:p>
            <a:pPr marL="342900" indent="-342900">
              <a:buFont typeface="Arial" panose="020B0604020202020204" pitchFamily="34" charset="0"/>
              <a:buChar char="•"/>
            </a:pPr>
            <a:r>
              <a:rPr lang="en-US" dirty="0"/>
              <a:t>controller</a:t>
            </a:r>
          </a:p>
        </p:txBody>
      </p:sp>
      <p:pic>
        <p:nvPicPr>
          <p:cNvPr id="8" name="Content Placeholder 7">
            <a:extLst>
              <a:ext uri="{FF2B5EF4-FFF2-40B4-BE49-F238E27FC236}">
                <a16:creationId xmlns:a16="http://schemas.microsoft.com/office/drawing/2014/main" id="{B3D70649-AAC1-B284-3AD7-5F094AFE14AB}"/>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3107319"/>
            <a:ext cx="4875213" cy="2649962"/>
          </a:xfrm>
        </p:spPr>
      </p:pic>
      <p:pic>
        <p:nvPicPr>
          <p:cNvPr id="12" name="Picture 11">
            <a:extLst>
              <a:ext uri="{FF2B5EF4-FFF2-40B4-BE49-F238E27FC236}">
                <a16:creationId xmlns:a16="http://schemas.microsoft.com/office/drawing/2014/main" id="{1CB30A16-04E6-9516-A6C7-F3AD22AEA5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0466" y="2011880"/>
            <a:ext cx="1965371" cy="1522837"/>
          </a:xfrm>
          <a:prstGeom prst="rect">
            <a:avLst/>
          </a:prstGeom>
        </p:spPr>
      </p:pic>
    </p:spTree>
    <p:extLst>
      <p:ext uri="{BB962C8B-B14F-4D97-AF65-F5344CB8AC3E}">
        <p14:creationId xmlns:p14="http://schemas.microsoft.com/office/powerpoint/2010/main" val="241386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69FA4A1-2C19-C5A9-52AD-7B41968605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17574" y="2920181"/>
            <a:ext cx="5796987" cy="2871019"/>
          </a:xfrm>
        </p:spPr>
      </p:pic>
      <p:sp>
        <p:nvSpPr>
          <p:cNvPr id="4" name="Text Placeholder 3">
            <a:extLst>
              <a:ext uri="{FF2B5EF4-FFF2-40B4-BE49-F238E27FC236}">
                <a16:creationId xmlns:a16="http://schemas.microsoft.com/office/drawing/2014/main" id="{DE1B0C94-323A-210C-E5C6-F7EC479DBB5A}"/>
              </a:ext>
            </a:extLst>
          </p:cNvPr>
          <p:cNvSpPr>
            <a:spLocks noGrp="1"/>
          </p:cNvSpPr>
          <p:nvPr>
            <p:ph type="body" sz="half" idx="2"/>
          </p:nvPr>
        </p:nvSpPr>
        <p:spPr>
          <a:xfrm>
            <a:off x="1252742" y="1621222"/>
            <a:ext cx="3856037" cy="3541714"/>
          </a:xfrm>
        </p:spPr>
        <p:txBody>
          <a:bodyPr/>
          <a:lstStyle/>
          <a:p>
            <a:r>
              <a:rPr lang="en-US" b="1" dirty="0"/>
              <a:t>Function</a:t>
            </a:r>
            <a:r>
              <a:rPr lang="en-US" dirty="0"/>
              <a:t>: Generates pseudo-random indices for message scheduling</a:t>
            </a:r>
          </a:p>
          <a:p>
            <a:r>
              <a:rPr lang="en-US" b="1" dirty="0"/>
              <a:t>Components</a:t>
            </a:r>
            <a:r>
              <a:rPr lang="en-US" dirty="0"/>
              <a:t>:</a:t>
            </a:r>
          </a:p>
          <a:p>
            <a:r>
              <a:rPr lang="en-US" b="1" dirty="0"/>
              <a:t>Controller</a:t>
            </a:r>
            <a:r>
              <a:rPr lang="en-US" dirty="0"/>
              <a:t>: 5-state FSM for random generation sequence</a:t>
            </a:r>
          </a:p>
          <a:p>
            <a:r>
              <a:rPr lang="en-US" b="1" dirty="0"/>
              <a:t>Datapath</a:t>
            </a:r>
            <a:r>
              <a:rPr lang="en-US" dirty="0"/>
              <a:t>: Linear feedback shift register (LFSR) based implementation</a:t>
            </a:r>
          </a:p>
          <a:p>
            <a:r>
              <a:rPr lang="en-US" b="1" dirty="0"/>
              <a:t>Output</a:t>
            </a:r>
            <a:r>
              <a:rPr lang="en-US" dirty="0"/>
              <a:t>: 2-bit random number for message word selection</a:t>
            </a:r>
          </a:p>
          <a:p>
            <a:endParaRPr lang="en-US" dirty="0"/>
          </a:p>
        </p:txBody>
      </p:sp>
      <p:pic>
        <p:nvPicPr>
          <p:cNvPr id="8" name="Picture 7">
            <a:extLst>
              <a:ext uri="{FF2B5EF4-FFF2-40B4-BE49-F238E27FC236}">
                <a16:creationId xmlns:a16="http://schemas.microsoft.com/office/drawing/2014/main" id="{D200A4D1-0A93-9337-5C0E-28287F8217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574" y="737419"/>
            <a:ext cx="5796987" cy="2023245"/>
          </a:xfrm>
          <a:prstGeom prst="rect">
            <a:avLst/>
          </a:prstGeom>
        </p:spPr>
      </p:pic>
    </p:spTree>
    <p:extLst>
      <p:ext uri="{BB962C8B-B14F-4D97-AF65-F5344CB8AC3E}">
        <p14:creationId xmlns:p14="http://schemas.microsoft.com/office/powerpoint/2010/main" val="4219886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07E4-71CD-2265-ECC7-CC87CF50534E}"/>
              </a:ext>
            </a:extLst>
          </p:cNvPr>
          <p:cNvSpPr>
            <a:spLocks noGrp="1"/>
          </p:cNvSpPr>
          <p:nvPr>
            <p:ph type="title"/>
          </p:nvPr>
        </p:nvSpPr>
        <p:spPr/>
        <p:txBody>
          <a:bodyPr/>
          <a:lstStyle/>
          <a:p>
            <a:r>
              <a:rPr lang="en-US" b="1" dirty="0"/>
              <a:t>3. Algorithm Implementation</a:t>
            </a:r>
            <a:br>
              <a:rPr lang="en-US" b="1" dirty="0"/>
            </a:br>
            <a:endParaRPr lang="en-US" dirty="0"/>
          </a:p>
        </p:txBody>
      </p:sp>
      <p:pic>
        <p:nvPicPr>
          <p:cNvPr id="5" name="Content Placeholder 4">
            <a:extLst>
              <a:ext uri="{FF2B5EF4-FFF2-40B4-BE49-F238E27FC236}">
                <a16:creationId xmlns:a16="http://schemas.microsoft.com/office/drawing/2014/main" id="{2DE0FD89-3999-F839-7C88-D6317750BD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9725" y="1368059"/>
            <a:ext cx="6832549" cy="5353864"/>
          </a:xfrm>
        </p:spPr>
      </p:pic>
    </p:spTree>
    <p:extLst>
      <p:ext uri="{BB962C8B-B14F-4D97-AF65-F5344CB8AC3E}">
        <p14:creationId xmlns:p14="http://schemas.microsoft.com/office/powerpoint/2010/main" val="55685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394BC-F0EB-F264-1B02-06F1C71B71AE}"/>
              </a:ext>
            </a:extLst>
          </p:cNvPr>
          <p:cNvSpPr>
            <a:spLocks noGrp="1"/>
          </p:cNvSpPr>
          <p:nvPr>
            <p:ph type="title"/>
          </p:nvPr>
        </p:nvSpPr>
        <p:spPr/>
        <p:txBody>
          <a:bodyPr/>
          <a:lstStyle/>
          <a:p>
            <a:r>
              <a:rPr lang="en-US" dirty="0"/>
              <a:t>passes verification against standard test vectors</a:t>
            </a:r>
          </a:p>
        </p:txBody>
      </p:sp>
      <p:pic>
        <p:nvPicPr>
          <p:cNvPr id="12" name="Content Placeholder 11">
            <a:extLst>
              <a:ext uri="{FF2B5EF4-FFF2-40B4-BE49-F238E27FC236}">
                <a16:creationId xmlns:a16="http://schemas.microsoft.com/office/drawing/2014/main" id="{285A1542-3457-3176-8B44-6F1279F43E5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1" t="31419" r="75373" b="-1"/>
          <a:stretch>
            <a:fillRect/>
          </a:stretch>
        </p:blipFill>
        <p:spPr>
          <a:xfrm>
            <a:off x="7884693" y="2249486"/>
            <a:ext cx="3392908" cy="3541714"/>
          </a:xfrm>
        </p:spPr>
      </p:pic>
      <p:pic>
        <p:nvPicPr>
          <p:cNvPr id="10" name="Content Placeholder 9">
            <a:extLst>
              <a:ext uri="{FF2B5EF4-FFF2-40B4-BE49-F238E27FC236}">
                <a16:creationId xmlns:a16="http://schemas.microsoft.com/office/drawing/2014/main" id="{96D4D396-0656-2C76-AE9F-37652AE430D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1" t="1" r="51216" b="44223"/>
          <a:stretch>
            <a:fillRect/>
          </a:stretch>
        </p:blipFill>
        <p:spPr>
          <a:xfrm>
            <a:off x="914400" y="2249486"/>
            <a:ext cx="6862916" cy="3541714"/>
          </a:xfrm>
        </p:spPr>
      </p:pic>
    </p:spTree>
    <p:extLst>
      <p:ext uri="{BB962C8B-B14F-4D97-AF65-F5344CB8AC3E}">
        <p14:creationId xmlns:p14="http://schemas.microsoft.com/office/powerpoint/2010/main" val="277053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566F-1B66-1D1B-B623-249D31F6BD1E}"/>
              </a:ext>
            </a:extLst>
          </p:cNvPr>
          <p:cNvSpPr>
            <a:spLocks noGrp="1"/>
          </p:cNvSpPr>
          <p:nvPr>
            <p:ph type="title"/>
          </p:nvPr>
        </p:nvSpPr>
        <p:spPr>
          <a:xfrm>
            <a:off x="1072585" y="983226"/>
            <a:ext cx="9905955" cy="1681316"/>
          </a:xfrm>
        </p:spPr>
        <p:txBody>
          <a:bodyPr/>
          <a:lstStyle/>
          <a:p>
            <a:r>
              <a:rPr lang="en-US" b="1" dirty="0"/>
              <a:t>Conclusion</a:t>
            </a:r>
            <a:br>
              <a:rPr lang="en-US" b="1" dirty="0"/>
            </a:br>
            <a:endParaRPr lang="en-US" dirty="0"/>
          </a:p>
        </p:txBody>
      </p:sp>
      <p:sp>
        <p:nvSpPr>
          <p:cNvPr id="3" name="Text Placeholder 2">
            <a:extLst>
              <a:ext uri="{FF2B5EF4-FFF2-40B4-BE49-F238E27FC236}">
                <a16:creationId xmlns:a16="http://schemas.microsoft.com/office/drawing/2014/main" id="{CB6B2E25-AF87-0353-6348-A377AB190998}"/>
              </a:ext>
            </a:extLst>
          </p:cNvPr>
          <p:cNvSpPr>
            <a:spLocks noGrp="1"/>
          </p:cNvSpPr>
          <p:nvPr>
            <p:ph type="body" sz="half" idx="2"/>
          </p:nvPr>
        </p:nvSpPr>
        <p:spPr>
          <a:xfrm>
            <a:off x="1072585" y="2094271"/>
            <a:ext cx="10785119" cy="3382296"/>
          </a:xfrm>
        </p:spPr>
        <p:txBody>
          <a:bodyPr/>
          <a:lstStyle/>
          <a:p>
            <a:r>
              <a:rPr lang="en-US" sz="2000" dirty="0"/>
              <a:t>The implemented MD5 hash generator successfully demonstrates a complete cryptographic hash function in hardware. The modular design approach with separate controller and datapath components provides maintainability and scalability. The system correctly implements the MD5 algorithm specification and passes verification against standard test vectors, confirming functional correctness.</a:t>
            </a:r>
          </a:p>
          <a:p>
            <a:r>
              <a:rPr lang="en-US" sz="2000" dirty="0"/>
              <a:t>The design represents a balanced approach between performance and resource utilization, making it suitable for integration into larger cryptographic systems or as a standalone hash computation unit.</a:t>
            </a:r>
          </a:p>
          <a:p>
            <a:endParaRPr lang="en-US" dirty="0"/>
          </a:p>
        </p:txBody>
      </p:sp>
    </p:spTree>
    <p:extLst>
      <p:ext uri="{BB962C8B-B14F-4D97-AF65-F5344CB8AC3E}">
        <p14:creationId xmlns:p14="http://schemas.microsoft.com/office/powerpoint/2010/main" val="2869371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929A175-B984-F6C4-2E95-9154847E5AA9}"/>
              </a:ext>
            </a:extLst>
          </p:cNvPr>
          <p:cNvSpPr>
            <a:spLocks noGrp="1"/>
          </p:cNvSpPr>
          <p:nvPr>
            <p:ph type="body" sz="half" idx="2"/>
          </p:nvPr>
        </p:nvSpPr>
        <p:spPr>
          <a:xfrm>
            <a:off x="1249565" y="4449096"/>
            <a:ext cx="9904459" cy="1371599"/>
          </a:xfrm>
        </p:spPr>
        <p:txBody>
          <a:bodyPr>
            <a:normAutofit lnSpcReduction="10000"/>
          </a:bodyPr>
          <a:lstStyle/>
          <a:p>
            <a:r>
              <a:rPr lang="en-US" b="1" dirty="0"/>
              <a:t>Document Version</a:t>
            </a:r>
            <a:r>
              <a:rPr lang="en-US" dirty="0"/>
              <a:t>: 1.0</a:t>
            </a:r>
            <a:br>
              <a:rPr lang="en-US" dirty="0"/>
            </a:br>
            <a:r>
              <a:rPr lang="en-US" b="1" dirty="0"/>
              <a:t>Verification Status</a:t>
            </a:r>
            <a:r>
              <a:rPr lang="en-US" dirty="0"/>
              <a:t>: Tested and Verified</a:t>
            </a:r>
            <a:br>
              <a:rPr lang="en-US" dirty="0"/>
            </a:br>
            <a:r>
              <a:rPr lang="en-US" b="1" dirty="0"/>
              <a:t>Date</a:t>
            </a:r>
            <a:r>
              <a:rPr lang="en-US" dirty="0"/>
              <a:t>: 2025/9/10</a:t>
            </a:r>
            <a:br>
              <a:rPr lang="en-US" dirty="0"/>
            </a:br>
            <a:r>
              <a:rPr lang="en-US" b="1" dirty="0"/>
              <a:t>Designer</a:t>
            </a:r>
            <a:r>
              <a:rPr lang="en-US" dirty="0"/>
              <a:t>: Milad Mazaheri , Parsa Saeednia</a:t>
            </a:r>
          </a:p>
        </p:txBody>
      </p:sp>
      <p:sp>
        <p:nvSpPr>
          <p:cNvPr id="4" name="Oval 3">
            <a:extLst>
              <a:ext uri="{FF2B5EF4-FFF2-40B4-BE49-F238E27FC236}">
                <a16:creationId xmlns:a16="http://schemas.microsoft.com/office/drawing/2014/main" id="{3AF6A531-B32D-789C-55E0-71E6D1B4F4F4}"/>
              </a:ext>
            </a:extLst>
          </p:cNvPr>
          <p:cNvSpPr/>
          <p:nvPr/>
        </p:nvSpPr>
        <p:spPr>
          <a:xfrm>
            <a:off x="7364361" y="820994"/>
            <a:ext cx="2654710" cy="2654710"/>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0025390-D61D-880A-FC4E-1D3E91E7C5BA}"/>
              </a:ext>
            </a:extLst>
          </p:cNvPr>
          <p:cNvSpPr/>
          <p:nvPr/>
        </p:nvSpPr>
        <p:spPr>
          <a:xfrm>
            <a:off x="2374490" y="820994"/>
            <a:ext cx="2654710" cy="265471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hlinkClick r:id="rId4" tooltip="https://github.com/MiladMazaheri83"/>
            <a:extLst>
              <a:ext uri="{FF2B5EF4-FFF2-40B4-BE49-F238E27FC236}">
                <a16:creationId xmlns:a16="http://schemas.microsoft.com/office/drawing/2014/main" id="{85BF3E95-982B-8123-DDBD-8121CD769EBC}"/>
              </a:ext>
            </a:extLst>
          </p:cNvPr>
          <p:cNvSpPr txBox="1"/>
          <p:nvPr/>
        </p:nvSpPr>
        <p:spPr>
          <a:xfrm>
            <a:off x="2015613" y="3602589"/>
            <a:ext cx="3647767" cy="369332"/>
          </a:xfrm>
          <a:prstGeom prst="rect">
            <a:avLst/>
          </a:prstGeom>
          <a:noFill/>
        </p:spPr>
        <p:txBody>
          <a:bodyPr wrap="square" rtlCol="0">
            <a:spAutoFit/>
          </a:bodyPr>
          <a:lstStyle/>
          <a:p>
            <a:r>
              <a:rPr lang="en-US" dirty="0">
                <a:hlinkClick r:id="rId4"/>
              </a:rPr>
              <a:t>https://github.com/MiladMazaheri83</a:t>
            </a:r>
            <a:endParaRPr lang="en-US" dirty="0"/>
          </a:p>
        </p:txBody>
      </p:sp>
      <p:sp>
        <p:nvSpPr>
          <p:cNvPr id="7" name="TextBox 6">
            <a:hlinkClick r:id="rId5" tooltip="https://github.com/Parsa-Saeednia"/>
            <a:extLst>
              <a:ext uri="{FF2B5EF4-FFF2-40B4-BE49-F238E27FC236}">
                <a16:creationId xmlns:a16="http://schemas.microsoft.com/office/drawing/2014/main" id="{A53BCF92-0907-96F6-3F24-DD3A720A6E2D}"/>
              </a:ext>
            </a:extLst>
          </p:cNvPr>
          <p:cNvSpPr txBox="1"/>
          <p:nvPr/>
        </p:nvSpPr>
        <p:spPr>
          <a:xfrm>
            <a:off x="7108722" y="3602589"/>
            <a:ext cx="3805085" cy="369332"/>
          </a:xfrm>
          <a:prstGeom prst="rect">
            <a:avLst/>
          </a:prstGeom>
          <a:noFill/>
        </p:spPr>
        <p:txBody>
          <a:bodyPr wrap="square" rtlCol="0">
            <a:spAutoFit/>
          </a:bodyPr>
          <a:lstStyle/>
          <a:p>
            <a:r>
              <a:rPr lang="en-US" dirty="0">
                <a:hlinkClick r:id="rId5"/>
              </a:rPr>
              <a:t>https</a:t>
            </a:r>
            <a:r>
              <a:rPr lang="en-US" dirty="0">
                <a:hlinkClick r:id="rId5"/>
              </a:rPr>
              <a:t>://github.com/Parsa-Saeednia</a:t>
            </a:r>
            <a:endParaRPr lang="en-US" dirty="0"/>
          </a:p>
        </p:txBody>
      </p:sp>
    </p:spTree>
    <p:extLst>
      <p:ext uri="{BB962C8B-B14F-4D97-AF65-F5344CB8AC3E}">
        <p14:creationId xmlns:p14="http://schemas.microsoft.com/office/powerpoint/2010/main" val="4650332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169</TotalTime>
  <Words>621</Words>
  <Application>Microsoft Office PowerPoint</Application>
  <PresentationFormat>Widescreen</PresentationFormat>
  <Paragraphs>70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Tw Cen MT</vt:lpstr>
      <vt:lpstr>Tw Cen MT Condensed Extra Bold</vt:lpstr>
      <vt:lpstr>Circuit</vt:lpstr>
      <vt:lpstr>MD5 Hash Generator - Digital Design Implementation Report </vt:lpstr>
      <vt:lpstr>1. System Architecture </vt:lpstr>
      <vt:lpstr>1.1 Top-Level Module: HashGenerator </vt:lpstr>
      <vt:lpstr>Module Specifications </vt:lpstr>
      <vt:lpstr>2.1 HashGeneratorController </vt:lpstr>
      <vt:lpstr>PowerPoint Presentation</vt:lpstr>
      <vt:lpstr>2.2 HashGeneratorDatapath </vt:lpstr>
      <vt:lpstr>PowerPoint Presentation</vt:lpstr>
      <vt:lpstr>2.3 RandomGenerator</vt:lpstr>
      <vt:lpstr>PowerPoint Presentation</vt:lpstr>
      <vt:lpstr>3. Algorithm Implementation </vt:lpstr>
      <vt:lpstr>passes verification against standard test vectors</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Milad Mazaheri</dc:creator>
  <cp:lastModifiedBy>Milad Mazaheri</cp:lastModifiedBy>
  <cp:revision>1</cp:revision>
  <dcterms:created xsi:type="dcterms:W3CDTF">2025-10-08T21:30:53Z</dcterms:created>
  <dcterms:modified xsi:type="dcterms:W3CDTF">2025-10-09T00:20:41Z</dcterms:modified>
</cp:coreProperties>
</file>